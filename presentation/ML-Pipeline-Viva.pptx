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00" b="1" i="0">
                <a:solidFill>
                  <a:srgbClr val="BFD4E8"/>
                </a:solidFill>
                <a:latin typeface="Calibri"/>
              </a:rPr>
              <a:t>MACHINE LEARNING PROJECT  ·  MODEL DEFENCE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AI Data Science Workbench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FD4E8"/>
                </a:solidFill>
                <a:latin typeface="Calibri"/>
              </a:rPr>
              <a:t>A governed, task-agnostic 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8716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5B6474"/>
                </a:solidFill>
                <a:latin typeface="Calibri"/>
              </a:rPr>
              <a:t>The claim is not "the model is accurate".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F2B"/>
                </a:solidFill>
                <a:latin typeface="Calibri"/>
              </a:rPr>
              <a:t>It is: the result is reproducible, the choice is documented, leakage is structurally prevented, and the model's own bias is measured and published with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9776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33087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F4E79"/>
                </a:solidFill>
                <a:latin typeface="Calibri"/>
              </a:rPr>
              <a:t>12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4"/>
                </a:solidFill>
                <a:latin typeface="Calibri"/>
              </a:rPr>
              <a:t>governed stages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39776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4133087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F4E79"/>
                </a:solidFill>
                <a:latin typeface="Calibri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4"/>
                </a:solidFill>
                <a:latin typeface="Calibri"/>
              </a:rPr>
              <a:t>models in catalogue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39776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4133087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F4E79"/>
                </a:solidFill>
                <a:latin typeface="Calibri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4"/>
                </a:solidFill>
                <a:latin typeface="Calibri"/>
              </a:rPr>
              <a:t>tasks, one code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72016" y="39776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9176" y="4133087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F4E79"/>
                </a:solidFill>
                <a:latin typeface="Calibri"/>
              </a:rPr>
              <a:t>136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B6474"/>
                </a:solidFill>
                <a:latin typeface="Calibri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577840"/>
            <a:ext cx="10820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California Housing (regression)   ·   Telco Customer Churn (classification)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4"/>
                </a:solidFill>
                <a:latin typeface="Calibri"/>
              </a:rPr>
              <a:t>Python + scikit-learn  ·  governance layer  ·  trust audit  ·  Streamlit and Next.js review consoles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The Problem, and the Design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72768"/>
            <a:ext cx="4946903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5B0E"/>
                </a:solidFill>
                <a:latin typeface="Calibri"/>
              </a:rPr>
              <a:t>Why a notebook was not enough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A notebook records what ran — never why it was chosen.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Results drift: no fixed seed, no split policy, no data hash.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Leakage is silent. A scaler fitted on all rows never errors, it just returns a better score.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Nothing stops an unreviewed model reaching the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17320"/>
            <a:ext cx="534924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572768"/>
            <a:ext cx="4946903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6B45"/>
                </a:solidFill>
                <a:latin typeface="Calibri"/>
              </a:rPr>
              <a:t>What the workbench adds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12 named stages, each declaring its inputs and outputs.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An approval gate the trainer physically cannot bypass.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Every fitted statistic learned on train, carried with the model.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Audit log, lineage graph, model registry and model card per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4E79"/>
                </a:solidFill>
                <a:latin typeface="Calibri"/>
              </a:rPr>
              <a:t>One engine, two tasks — the strongest test that the design is genuinely general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462272"/>
          <a:ext cx="10820093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4088"/>
                <a:gridCol w="1558827"/>
                <a:gridCol w="2475784"/>
                <a:gridCol w="2475784"/>
                <a:gridCol w="192561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Selection metric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Positive class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California Housing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median_house_value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rmse  (lower is better)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not applicable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Telco Customer Churn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Churn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roc_auc  (higher is better)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"Yes"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5623560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751576"/>
            <a:ext cx="1041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Switching project is one environment variable: WORKBENCH_PROJECT=churn  —  no code edit, no branch.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Architecture — Twelve Governed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1. ingest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load, profile, 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1810512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3744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2. preprocess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clean, split 70/15/15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1810512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3. understand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schema + consistency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1810512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4. eda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distributions,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810512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6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6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5. features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propose, then 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47504" y="1810512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554480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673352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6. propose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model proposal doc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7. approve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governance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3209544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3744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8. train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fit + tune on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672" y="3209544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128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9. evaluate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compare, promote champion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1616" y="3209544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10. explain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drivers, coefficients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209544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6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6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11. trust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FFFFFF"/>
                </a:solidFill>
                <a:latin typeface="Calibri"/>
              </a:rPr>
              <a:t>fairness, calibration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3209544"/>
            <a:ext cx="1737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2953512"/>
            <a:ext cx="1709928" cy="896112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0" y="3072384"/>
            <a:ext cx="152704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1" i="0">
                <a:solidFill>
                  <a:srgbClr val="1F4E79"/>
                </a:solidFill>
                <a:latin typeface="Calibri"/>
              </a:rPr>
              <a:t>12. report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5B6474"/>
                </a:solidFill>
                <a:latin typeface="Calibri"/>
              </a:rPr>
              <a:t>HTML report, model 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0416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5B6474"/>
                </a:solidFill>
                <a:latin typeface="Calibri"/>
              </a:rPr>
              <a:t>Filled boxes are the two verification gates. Registry order is the canonical pipeline order.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4348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" y="4590288"/>
            <a:ext cx="3118104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The orchestrator enforces 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Refuses a stage whose declared inputs are missing, naming the prerequisite that produces them.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Resume skips finished stages; --force re-runs.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443484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8" y="4590288"/>
            <a:ext cx="3118104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Every stage leaves proof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Declared output paths, checked after the run.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workflow_status.json records status, duration, outputs.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An audit event and a lineage node per governed stage.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75320" y="4434840"/>
            <a:ext cx="3227832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76488" y="4590288"/>
            <a:ext cx="2825496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Review layers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Streamlit app + Next.js console read the artifacts.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Both are read-only — Python owns all computation.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Data Discipline — Why Leakage Cannot Happen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5029200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447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invariant, stated in the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029200" cy="105156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83664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1A1F2B"/>
                </a:solidFill>
                <a:latin typeface="Calibri"/>
              </a:rPr>
              <a:t>"The split happens BEFORE any fitted transformation. Imputer, encoder and scaler are fit on the training split only and reused unchanged on validation and test."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3017520"/>
          <a:ext cx="5029200" cy="1837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Split policy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Train fraction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Validation fraction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Test fraction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0.15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Random state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42, fixed project-wide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F2B"/>
                          </a:solidFill>
                          <a:latin typeface="Calibri"/>
                        </a:rPr>
                        <a:t>Stratified 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F2B"/>
                          </a:solidFill>
                          <a:latin typeface="Calibri"/>
                        </a:rPr>
                        <a:t>income band / target class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137160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527048"/>
            <a:ext cx="5129783" cy="2039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Three structural guarantees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Every statistic — medians, means, standard deviations, category levels — is learned from the TRAIN split only.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The fitted preprocessor is pickled INSIDE the model bundle, so validation, test and explainability transform identically.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split_x_y() raises if the target appears among the predictors. Leakage becomes a crash, not a flattering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4048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The transformation, in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206240"/>
            <a:ext cx="55321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06824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Numeric   —   median-impute using the train median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4681727"/>
            <a:ext cx="55321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478231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Numeric   —   standardise using train mean and std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5157215"/>
            <a:ext cx="55321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5257799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Categorical   —   one-hot using train categories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5632703"/>
            <a:ext cx="55321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573328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Unseen level   —   all-zero row — never an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13248"/>
            <a:ext cx="50292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A5B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22976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Zero-variance guard: a column whose train std is 0 gets a divisor of 1.0 — no divide-by-zero, no silent NaN column.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The Model Catalogue — Six Candidates in One Registry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10820094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4856"/>
                <a:gridCol w="1127093"/>
                <a:gridCol w="1668098"/>
                <a:gridCol w="2614856"/>
                <a:gridCol w="2795191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Tuned parameter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Fixed settings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LinearRegression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none — no hyperparameter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the transparent baseline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alpha,  log 1e-3 → 1e3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L2 shrinkage, keeps all predictors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Lasso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alpha,  log 1e-4 → 1e1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max_iter=10000, tol=0.1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LogisticRegression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C,  log 1e-2 → 1e2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liblinear, max_iter=2000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DecisionTreeClassifier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tree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max_depth,  2 → 12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class_weight = balanced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RandomForestClassifier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max_depth,  4 → 16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300 trees, balanced, n_jobs=-1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48056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4636008"/>
            <a:ext cx="3118104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Why one tunable each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A single parameter lets ONE validation sweep serve both tasks — no separate tuners to drift apart.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25-point grids (ALPHA_GRID_SIZE), log or integer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480560"/>
            <a:ext cx="35204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4636008"/>
            <a:ext cx="3118104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Why the linear family leads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A standing governance decision, not an accident.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Coefficients read as signed effects a manager can act 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Trees and the forest were added for churn as the accuracy benchmark the interpretable model must match.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480560"/>
            <a:ext cx="3227832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4636008"/>
            <a:ext cx="2825496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Extensible by construction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Models are ModelSpec dataclasses resolved by string path.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Adding a family edits the catalogue only — trainer, evaluator and reporter import no estimator 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Tuning and Champion Selection — the Defensible Part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27048"/>
            <a:ext cx="494690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Hold-out validation, NOT k-fold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The parameter is swept on a dedicated validation split, never k-fold over train + validation.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One split, one purpose. Reusing training rows to choose a parameter leaks the choice back into the fit.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Recorded as a standing decision: tune_on_validation_not_kfold.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49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527048"/>
            <a:ext cx="4946903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One loop serves both tasks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METRIC_HIGHER_IS_BETTER supplies the direction, so rmse (lower wins) and roc_auc (higher wins) share one code path.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is_better() handles NaN explicitly: an undefined score never wins, and always loses to a real one.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1F2B"/>
                </a:solidFill>
                <a:latin typeface="Calibri"/>
              </a:rPr>
              <a:t>•  Without that a NaN incumbent could never be displaced — and the bug was ordering-dependent, so it hid for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47872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The promotion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31920"/>
            <a:ext cx="2029968" cy="86868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04164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Sweep 25 candidates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on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4187952"/>
            <a:ext cx="283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3931920"/>
            <a:ext cx="2029968" cy="86868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404164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Refit best params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on 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4187952"/>
            <a:ext cx="283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3931920"/>
            <a:ext cx="2029968" cy="86868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404164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Compare all models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on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4187952"/>
            <a:ext cx="283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88936" y="3931920"/>
            <a:ext cx="2029968" cy="86868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0376" y="404164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A1F2B"/>
                </a:solidFill>
                <a:latin typeface="Calibri"/>
              </a:rPr>
              <a:t>Promote champion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to the registry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4187952"/>
            <a:ext cx="283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4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3931920"/>
            <a:ext cx="2029968" cy="86868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48088" y="4041648"/>
            <a:ext cx="18470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Score champion once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on 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8348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138928"/>
            <a:ext cx="4946903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The gate before any fit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train_model() calls require_model_approved(name) first.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An unapproved model raises GovernanceError — never trains.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98348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5138928"/>
            <a:ext cx="4946903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The test split is opened once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Only the champion is scored on it, after promotion.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The trust stage reads it again to REPORT on a decision already frozen — it never feeds back into selection.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Results — Same Pipeline, Two Tasks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71600"/>
          <a:ext cx="10820094" cy="30358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186"/>
                <a:gridCol w="4282954"/>
                <a:gridCol w="428295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California Housing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Telco Customer Churn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Binary classification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Candidates trained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6  (3 models × 2 versions)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6  (3 models × 2 versions)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Selection metric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rmse — lower is better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roc_auc — higher is better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Champion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Ridge v001,  alpha = 100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LogisticRegression v001,  C = 2.154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RMSE $64,787   ·   R² 0.680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ROC-AUC 0.8455   ·   Accuracy 0.808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Test  (opened once)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RMSE $66,681   ·   R² 0.667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ROC-AUC 0.8448   ·   Accuracy 0.811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Runner-up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Lasso, RMSE $64,887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RandomForest, ROC-AUC 0.8446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F2B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median_income  (positive)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F2B"/>
                          </a:solidFill>
                          <a:latin typeface="Calibri"/>
                        </a:rPr>
                        <a:t>tenure  (permutation 0.1915)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" y="48006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4956048"/>
            <a:ext cx="4946903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Housing: an honest margin, reported as found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Ridge beat plain LinearRegression by $100 of RMSE — real, but small. Shrinkage helped slightly; it did not transform.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Validation $64,787 → test $66,681: a modest, expected drop.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8006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4956048"/>
            <a:ext cx="4946903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Churn: interpretability cost nothing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RandomForest matched the AUC (0.8446 vs 0.8455) but was not more useful — so the explainable model was promoted.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Validation 0.8455 → test 0.8448: no overfit to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Governance — the Paper Trail Behind Every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8200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Five standing decisions are recorded before any model is trained — the methodology is in the repository, not only in the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19072"/>
            <a:ext cx="2112264" cy="96012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28800"/>
            <a:ext cx="18745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F4E79"/>
                </a:solidFill>
                <a:latin typeface="Calibri"/>
              </a:rPr>
              <a:t>linear_family_only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Catalogue led by the linear family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719072"/>
            <a:ext cx="2112264" cy="96012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1828800"/>
            <a:ext cx="18745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F4E79"/>
                </a:solidFill>
                <a:latin typeface="Calibri"/>
              </a:rPr>
              <a:t>split_early_test_untouched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Test split untouched until the 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719072"/>
            <a:ext cx="2112264" cy="96012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1828800"/>
            <a:ext cx="18745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F4E79"/>
                </a:solidFill>
                <a:latin typeface="Calibri"/>
              </a:rPr>
              <a:t>median_imputation_after_split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Impute after splitting, train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719072"/>
            <a:ext cx="2112264" cy="96012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62672" y="1828800"/>
            <a:ext cx="18745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F4E79"/>
                </a:solidFill>
                <a:latin typeface="Calibri"/>
              </a:rPr>
              <a:t>tune_on_validation_not_kfold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Tune on validation, not k-fold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719072"/>
            <a:ext cx="2112264" cy="96012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48672" y="1828800"/>
            <a:ext cx="187451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F4E79"/>
                </a:solidFill>
                <a:latin typeface="Calibri"/>
              </a:rPr>
              <a:t>governed_approvals_gate_training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Approval gates all training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2926080"/>
          <a:ext cx="6035040" cy="2249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Artifact written every run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82296" marR="54864" marT="18288" marB="18288" anchor="ctr"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models/&lt;name&gt;/&lt;version&gt;/model.joblib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the exact fitted object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models/&lt;name&gt;/&lt;version&gt;/metadata.json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params, tuning history, metrics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models/model_registry.json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who the champion is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governance/audit/audit_log.jsonl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10 event types, append-only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governance/lineage/lineage.json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6 nodes: input → script → output</a:t>
                      </a:r>
                    </a:p>
                  </a:txBody>
                  <a:tcPr marL="82296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2B"/>
                          </a:solidFill>
                          <a:latin typeface="Calibri"/>
                        </a:rPr>
                        <a:t>artifacts/experiments/experiments.jsonl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2B"/>
                          </a:solidFill>
                          <a:latin typeface="Calibri"/>
                        </a:rPr>
                        <a:t>immutable run history</a:t>
                      </a:r>
                    </a:p>
                  </a:txBody>
                  <a:tcPr marL="82296" marR="54864" marT="18288" marB="18288" anchor="ctr"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995160" y="2926080"/>
            <a:ext cx="450799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6328" y="3081528"/>
            <a:ext cx="4105655" cy="12161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Gates that cannot be bypassed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Unapproved model → GovernanceError, before any fit.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The design matrix uses only approved predictor columns.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Versions auto-increment; nothing is ever overwritten.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4572000"/>
            <a:ext cx="45079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4727448"/>
            <a:ext cx="4105655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Reproducibility anchors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data_hash: SHA-256 of the training file on every entry.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random_state = 42 on every stochastic estimator.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1A1F2B"/>
                </a:solidFill>
                <a:latin typeface="Calibri"/>
              </a:rPr>
              <a:t>•  Lineage hashes each input and output 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166360"/>
            <a:ext cx="6035040" cy="9144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294376"/>
            <a:ext cx="56327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BFD4E8"/>
                </a:solidFill>
                <a:latin typeface="Calibri"/>
              </a:rPr>
              <a:t>"Six months from now, can you prove which data, which parameters and whose approval produced this number?"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Yes — registry, metadata, audit log and data hash together answer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9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The Trust Layer — Deciding Whether to Believe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B6474"/>
                </a:solidFill>
                <a:latin typeface="Calibri"/>
              </a:rPr>
              <a:t>Measured on the churn champion, test split, 1,057 rows — after the champion was frozen, so it reports on the decision rather than making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229514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Calibration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When it says 0.8, does that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happen 80% of the time?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Brier  0.1362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ECE  0.0301   ·   MCE  0.1806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Predicted 0.2566 vs actual 0.2658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Bias -0.0093 — slightly cautious.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The ROI simulator needs this,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not the AUC.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6916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29514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Permutation importance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What does it actually depend on,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not what does it claim?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46 features, 10 shuffles each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Only 18 beat noise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1.  tenure   0.1915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2.  MonthlyCharges   0.0499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3.  TotalCharges   0.0201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Scored on roc_auc, not impurity.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16916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28800"/>
            <a:ext cx="229514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Subgroup fairness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Is the headline an average that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hides a group it fails?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16 categorical columns audited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Groups under 30 rows excluded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Largest gap: InternetService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TPR gap 0.716 across 3 groups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One group is never predicted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positive at all (ratio = 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72016" y="16916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E8EFF6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27464" y="1828800"/>
            <a:ext cx="2295144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Selection amplification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How much of that gap did the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5B6474"/>
                </a:solidFill>
                <a:latin typeface="Calibri"/>
              </a:rPr>
              <a:t>model itself add?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1A1F2B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InternetService:  +0.1208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Flagged 12 points MORE often than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its real churn rate justifies.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Contract:  -0.0259 — the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NARROWS that real gap.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F2B"/>
                </a:solidFill>
                <a:latin typeface="Calibri"/>
              </a:rPr>
              <a:t>Subtracts base rate from selection.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56048"/>
            <a:ext cx="10820095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111496"/>
            <a:ext cx="10417759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Two deliberate refusals — what the trust layer will NOT do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It never labels a column a protected attribute, and never judges whether a gap is acceptable. That is a human call.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It never authors an intended-use statement. A card with no evidence SAYS so — an omitted fairness section would look like a fairness result that passed.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75488"/>
            <a:ext cx="7772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105914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SLIDE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F2B"/>
                </a:solidFill>
                <a:latin typeface="Calibri"/>
              </a:rPr>
              <a:t>Honest Limitations, and What Comes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27048"/>
            <a:ext cx="4946903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9A5B0E"/>
                </a:solidFill>
                <a:latin typeface="Calibri"/>
              </a:rPr>
              <a:t>Known limitations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Housing R² of 0.667 is modest. The linear family cannot capture the coastal geography EDA flagged — stated, not hidden.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Ridge beat the plain baseline by $100 of RMSE. That margin is real but small, and should not be oversold.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No unsupervised branch: the detector labels every target regression or classification, so clustering data is mis-routed.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Generated narrative prose is domain-bound to housing, so an uploaded project can inherit justification text it never earned.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No gradient boosting, SVM, kNN or neural families.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492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527048"/>
            <a:ext cx="4946903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1E6B45"/>
                </a:solidFill>
                <a:latin typeface="Calibri"/>
              </a:rPr>
              <a:t>Next steps, in priority order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Template the model-card and proposal prose from the dataset descriptor, so governance text matches the actual project.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Add an unsupervised branch (k-means + silhouette) with its own selection metric and trust checks.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Add one boosted-tree family to test whether the single-tunable-parameter design still holds.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Nested validation, to quantify selection optimism directly instead of arguing it away.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A1F2B"/>
                </a:solidFill>
                <a:latin typeface="Calibri"/>
              </a:rPr>
              <a:t>•  Port the retention simulator into the Next.js console.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10820095" cy="137160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800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BFD4E8"/>
                </a:solidFill>
                <a:latin typeface="Calibri"/>
              </a:rPr>
              <a:t>WHAT THIS PROJECT DEFENDS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Every number on these slides can be traced to a file: which data produced it, which parameters, whose approval, and what the model gets wrong about which group. That traceability — not the accuracy — is the deliverable.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474"/>
                </a:solidFill>
                <a:latin typeface="Calibri"/>
              </a:rPr>
              <a:t>AI Data Science Workbench   |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